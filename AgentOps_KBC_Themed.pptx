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3"/>
    <p:restoredTop sz="94610"/>
  </p:normalViewPr>
  <p:slideViewPr>
    <p:cSldViewPr snapToGrid="0" snapToObjects="1">
      <p:cViewPr>
        <p:scale>
          <a:sx n="125" d="100"/>
          <a:sy n="125" d="100"/>
        </p:scale>
        <p:origin x="36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15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571500"/>
            <a:ext cx="45857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to Production: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52525"/>
            <a:ext cx="73254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Mastering the 'Last Mile' with AgentOps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6250" y="1924050"/>
            <a:ext cx="835533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dirty="0">
                <a:solidFill>
                  <a:srgbClr val="00A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Trust, Ensuring Security, Enabling Velocity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014243" y="3076575"/>
            <a:ext cx="511551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"Building an agent is easy. Trusting it is hard."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76250" y="4347270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Google's AgentOps Framework | November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235" y="324211"/>
            <a:ext cx="43914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Mile Production Gap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8625" y="2010817"/>
            <a:ext cx="1928813" cy="2062163"/>
          </a:xfrm>
          <a:prstGeom prst="roundRect">
            <a:avLst>
              <a:gd name="adj" fmla="val 39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7675" y="2010817"/>
            <a:ext cx="0" cy="2062163"/>
          </a:xfrm>
          <a:prstGeom prst="line">
            <a:avLst/>
          </a:prstGeom>
          <a:noFill/>
          <a:ln w="38100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8811" y="214595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7225" y="2736503"/>
            <a:ext cx="1539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Injection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57225" y="3174653"/>
            <a:ext cx="1539907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manipulated to bypass guardrails and perform unauthorized actions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547938" y="1991171"/>
            <a:ext cx="1928813" cy="2062163"/>
          </a:xfrm>
          <a:prstGeom prst="roundRect">
            <a:avLst>
              <a:gd name="adj" fmla="val 39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66988" y="1991171"/>
            <a:ext cx="0" cy="2062163"/>
          </a:xfrm>
          <a:prstGeom prst="line">
            <a:avLst/>
          </a:prstGeom>
          <a:noFill/>
          <a:ln w="38100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48124" y="2238821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76538" y="2829371"/>
            <a:ext cx="1539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Leakage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776538" y="3267521"/>
            <a:ext cx="153990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access to customer data or confidential information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667250" y="1991171"/>
            <a:ext cx="1928813" cy="2062163"/>
          </a:xfrm>
          <a:prstGeom prst="roundRect">
            <a:avLst>
              <a:gd name="adj" fmla="val 39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6300" y="1991171"/>
            <a:ext cx="0" cy="2062163"/>
          </a:xfrm>
          <a:prstGeom prst="line">
            <a:avLst/>
          </a:prstGeom>
          <a:noFill/>
          <a:ln w="38100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67436" y="2238821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5850" y="2829371"/>
            <a:ext cx="1539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Explosion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895850" y="3267521"/>
            <a:ext cx="153990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cost spikes from runaway token usage without monitoring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786563" y="1991171"/>
            <a:ext cx="1928813" cy="2062163"/>
          </a:xfrm>
          <a:prstGeom prst="roundRect">
            <a:avLst>
              <a:gd name="adj" fmla="val 39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805613" y="1991171"/>
            <a:ext cx="0" cy="2062163"/>
          </a:xfrm>
          <a:prstGeom prst="line">
            <a:avLst/>
          </a:prstGeom>
          <a:noFill/>
          <a:ln w="38100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86749" y="2238821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15163" y="2829371"/>
            <a:ext cx="1539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Failures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015163" y="3267521"/>
            <a:ext cx="153990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degradation that goes unnoticed without proper observability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28625" y="4280595"/>
            <a:ext cx="8286750" cy="529530"/>
          </a:xfrm>
          <a:prstGeom prst="roundRect">
            <a:avLst>
              <a:gd name="adj" fmla="val 10793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125" y="4452045"/>
            <a:ext cx="80638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AgentOps bridges this gap by treating agents like production software—with evaluation, CI/CD, and observability.</a:t>
            </a:r>
            <a:endParaRPr lang="en-US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7A613C-F498-0E80-573E-EFD78DEF91D9}"/>
              </a:ext>
            </a:extLst>
          </p:cNvPr>
          <p:cNvSpPr txBox="1"/>
          <p:nvPr/>
        </p:nvSpPr>
        <p:spPr>
          <a:xfrm>
            <a:off x="266145" y="916869"/>
            <a:ext cx="8971858" cy="639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Transitioning a clever demo into a trusted, production-grade system is where 80% of the effort</a:t>
            </a:r>
            <a:b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lies. Skipping these steps leads to business failure, not just technical problems.</a:t>
            </a:r>
            <a:endParaRPr lang="en-US" sz="1400" dirty="0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D540C1C7-F6B6-3703-61C8-FB39BDCF4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31" y="2040122"/>
            <a:ext cx="372531" cy="372531"/>
          </a:xfrm>
          <a:prstGeom prst="rect">
            <a:avLst/>
          </a:prstGeom>
        </p:spPr>
      </p:pic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43BFC2B5-DB71-B748-FD07-3AB391CFD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049" y="2040122"/>
            <a:ext cx="391659" cy="391659"/>
          </a:xfrm>
          <a:prstGeom prst="rect">
            <a:avLst/>
          </a:prstGeom>
        </p:spPr>
      </p:pic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56F5058C-F1C9-25CF-F649-990503A15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031" y="2049312"/>
            <a:ext cx="399537" cy="399537"/>
          </a:xfrm>
          <a:prstGeom prst="rect">
            <a:avLst/>
          </a:prstGeom>
        </p:spPr>
      </p:pic>
      <p:pic>
        <p:nvPicPr>
          <p:cNvPr id="37" name="Image 6" descr="preencoded.png">
            <a:extLst>
              <a:ext uri="{FF2B5EF4-FFF2-40B4-BE49-F238E27FC236}">
                <a16:creationId xmlns:a16="http://schemas.microsoft.com/office/drawing/2014/main" id="{200FCB05-8B42-B9D3-9FBC-6EA648BA2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3952" y="2091864"/>
            <a:ext cx="391659" cy="391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110" y="333375"/>
            <a:ext cx="73837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AgentOps: A Lifecycle for Building Trustworthy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5758" y="904875"/>
            <a:ext cx="8452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 that work together in a continuous improvement cycle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687830" y="4429125"/>
            <a:ext cx="2720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manual uncertainty for automated confidence through rigorous evaluation and security.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35830" y="4429125"/>
            <a:ext cx="2720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live systems through continuous observation, action, and evolution.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23BCB3-2ABC-004A-80DB-F1CEAF717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124" y="1139130"/>
            <a:ext cx="3389751" cy="3242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52366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Evaluation: The Quality Gatekeeper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8625" y="1200448"/>
            <a:ext cx="3905250" cy="2146697"/>
          </a:xfrm>
          <a:prstGeom prst="roundRect">
            <a:avLst>
              <a:gd name="adj" fmla="val 443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1438573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149" y="151670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5875" y="1484263"/>
            <a:ext cx="122460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1: Pre-PR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85875" y="1708993"/>
            <a:ext cx="12246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Evaluation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6750" y="2105323"/>
            <a:ext cx="349758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runs evaluations locally before creating a pull request to catch obvious issues early.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1038" y="2674739"/>
            <a:ext cx="0" cy="396180"/>
          </a:xfrm>
          <a:prstGeom prst="line">
            <a:avLst/>
          </a:prstGeom>
          <a:noFill/>
          <a:ln w="28575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8200" y="2674739"/>
            <a:ext cx="332270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feedback loop, catches regressions before code review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10125" y="1200448"/>
            <a:ext cx="3905250" cy="2146697"/>
          </a:xfrm>
          <a:prstGeom prst="roundRect">
            <a:avLst>
              <a:gd name="adj" fmla="val 443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48250" y="1438573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649" y="151670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7375" y="1484263"/>
            <a:ext cx="183668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2: CI/CD Pipeline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7375" y="1708993"/>
            <a:ext cx="18366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Evaluation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48250" y="2105323"/>
            <a:ext cx="349758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on every PR, evaluations run at scale. Changes blocked if quality thresholds aren't met.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62538" y="2674739"/>
            <a:ext cx="0" cy="396180"/>
          </a:xfrm>
          <a:prstGeom prst="line">
            <a:avLst/>
          </a:prstGeom>
          <a:noFill/>
          <a:ln w="28575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9700" y="2674739"/>
            <a:ext cx="332270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bad changes from reaching production automatically</a:t>
            </a:r>
            <a:endParaRPr lang="en-US" sz="975" dirty="0"/>
          </a:p>
        </p:txBody>
      </p:sp>
      <p:pic>
        <p:nvPicPr>
          <p:cNvPr id="19" name="Image 0" descr="/tmp/rasterized-gradient-1d3093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861792"/>
            <a:ext cx="8286750" cy="94833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66750" y="4149328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190030" y="4033242"/>
            <a:ext cx="743296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Golden Dataset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90030" y="4254103"/>
            <a:ext cx="743296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curated set of input-output pairs representing critical scenarios. Continuously updated with production failures to ensure past issues never recur.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42359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Automated CI/CD Pipeline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77292" y="1788914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5F5F5"/>
          </a:solidFill>
          <a:ln w="19050">
            <a:solidFill>
              <a:srgbClr val="66666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503" y="189368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16251" y="2493764"/>
            <a:ext cx="39818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</a:t>
            </a:r>
            <a:endParaRPr lang="en-US" sz="825" dirty="0"/>
          </a:p>
          <a:p>
            <a:pPr marL="0" indent="0" algn="ctr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154609" y="2292697"/>
            <a:ext cx="286792" cy="28575"/>
          </a:xfrm>
          <a:prstGeom prst="rect">
            <a:avLst/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tmp/rasterized-gradient-ef04b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00" y="1558826"/>
            <a:ext cx="1528167" cy="14963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4300" y="1749326"/>
            <a:ext cx="11701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Pre-Merge CI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84300" y="2355056"/>
            <a:ext cx="117011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tests, linting, fast evaluation checks on every PR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343275" y="2156520"/>
            <a:ext cx="2478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274368" y="2466975"/>
            <a:ext cx="381000" cy="28575"/>
          </a:xfrm>
          <a:prstGeom prst="rect">
            <a:avLst/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/tmp/rasterized-gradient-731fc2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768" y="1638746"/>
            <a:ext cx="1528167" cy="1336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8268" y="1829246"/>
            <a:ext cx="11701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Staging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998268" y="2274987"/>
            <a:ext cx="117011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evaluation suite, load testing, production-like environment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5509617" y="2156520"/>
            <a:ext cx="3452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675" dirty="0"/>
          </a:p>
        </p:txBody>
      </p:sp>
      <p:sp>
        <p:nvSpPr>
          <p:cNvPr id="16" name="Text 12"/>
          <p:cNvSpPr/>
          <p:nvPr/>
        </p:nvSpPr>
        <p:spPr>
          <a:xfrm>
            <a:off x="5488335" y="2466975"/>
            <a:ext cx="381000" cy="28575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/tmp/rasterized-gradient-29ef68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735" y="1558826"/>
            <a:ext cx="1528167" cy="14963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2235" y="1749326"/>
            <a:ext cx="11701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Production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212235" y="2355056"/>
            <a:ext cx="117011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deployment with canary rollout to real users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7702302" y="2292697"/>
            <a:ext cx="286792" cy="28575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190161" y="1788914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5F5F5"/>
          </a:solidFill>
          <a:ln w="19050">
            <a:solidFill>
              <a:srgbClr val="0066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8309372" y="189368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288627" y="2493764"/>
            <a:ext cx="27916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25" dirty="0"/>
          </a:p>
          <a:p>
            <a:pPr marL="0" indent="0" algn="ctr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1872407" y="3497014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1938784" y="3531394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2177207" y="3531394"/>
            <a:ext cx="732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feedback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3847654" y="3497014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914031" y="3531394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152454" y="3531394"/>
            <a:ext cx="10240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Thorough validation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108948" y="3497014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175325" y="3531394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413748" y="3531394"/>
            <a:ext cx="8750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deployment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28625" y="4612035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Tech: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Infrastructure as Code (Terraform), GitOps workflows, and secure secrets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478A980-F218-95FF-31AA-7D3CA8C03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74114"/>
            <a:ext cx="7772400" cy="24516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7426587-9E1D-794B-A5E1-C198074510DE}"/>
              </a:ext>
            </a:extLst>
          </p:cNvPr>
          <p:cNvSpPr txBox="1"/>
          <p:nvPr/>
        </p:nvSpPr>
        <p:spPr>
          <a:xfrm>
            <a:off x="568295" y="223897"/>
            <a:ext cx="4572000" cy="372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Automated CI/CD Pipeline</a:t>
            </a:r>
            <a:endParaRPr lang="en-US" sz="1800" dirty="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323B869E-3789-D350-758B-37C7755D31B4}"/>
              </a:ext>
            </a:extLst>
          </p:cNvPr>
          <p:cNvSpPr/>
          <p:nvPr/>
        </p:nvSpPr>
        <p:spPr>
          <a:xfrm>
            <a:off x="428625" y="4612035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Tech: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Infrastructure as Code (Terraform), GitOps workflows, and secure secrets management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9950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42359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Rollout Strategies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8625" y="1028700"/>
            <a:ext cx="4048125" cy="1795463"/>
          </a:xfrm>
          <a:prstGeom prst="roundRect">
            <a:avLst>
              <a:gd name="adj" fmla="val 53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28625" y="1047750"/>
            <a:ext cx="4048125" cy="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9125" y="12573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3568" y="1308795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6325" y="1337370"/>
            <a:ext cx="14599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Canary Deployment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9125" y="1714500"/>
            <a:ext cx="374046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 small percentage of traffic (5-10%) to the new version. Monitor closely before expanding.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19125" y="2181225"/>
            <a:ext cx="3740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Gradual validation with real traffic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0" y="1028700"/>
            <a:ext cx="4048125" cy="1795463"/>
          </a:xfrm>
          <a:prstGeom prst="roundRect">
            <a:avLst>
              <a:gd name="adj" fmla="val 53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0" y="1047750"/>
            <a:ext cx="4048125" cy="0"/>
          </a:xfrm>
          <a:prstGeom prst="line">
            <a:avLst/>
          </a:prstGeom>
          <a:noFill/>
          <a:ln w="38100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57750" y="12573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2193" y="1308795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14950" y="1337370"/>
            <a:ext cx="177080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Blue-Green 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7750" y="1714500"/>
            <a:ext cx="374046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two identical environments. Switch traffic instantly between old (blue) and new (green).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57750" y="2181225"/>
            <a:ext cx="3740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Instant rollback capability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28625" y="3014663"/>
            <a:ext cx="4048125" cy="1795463"/>
          </a:xfrm>
          <a:prstGeom prst="roundRect">
            <a:avLst>
              <a:gd name="adj" fmla="val 53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28625" y="3033713"/>
            <a:ext cx="4048125" cy="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125" y="324326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3568" y="3294757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6325" y="3323332"/>
            <a:ext cx="85208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A/B Testing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125" y="3700463"/>
            <a:ext cx="374046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traffic between versions to measure user outcomes and compare performance statistically.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19125" y="4167188"/>
            <a:ext cx="3740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Data-driven decisions on new features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3014663"/>
            <a:ext cx="4048125" cy="1795463"/>
          </a:xfrm>
          <a:prstGeom prst="roundRect">
            <a:avLst>
              <a:gd name="adj" fmla="val 53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3033713"/>
            <a:ext cx="4048125" cy="0"/>
          </a:xfrm>
          <a:prstGeom prst="line">
            <a:avLst/>
          </a:prstGeom>
          <a:noFill/>
          <a:ln w="381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57750" y="3243263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22193" y="3294757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14950" y="3323332"/>
            <a:ext cx="101071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Flags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57750" y="3700463"/>
            <a:ext cx="374046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features on/off without redeploying. Enable for specific users, groups, or percentages.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857750" y="4167188"/>
            <a:ext cx="3740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Runtime control and targeting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0565" y="333375"/>
            <a:ext cx="46828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Security from the Start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5758" y="904875"/>
            <a:ext cx="8452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of defense against agent-specific risks</a:t>
            </a:r>
            <a:endParaRPr lang="en-US" sz="1050" dirty="0"/>
          </a:p>
        </p:txBody>
      </p:sp>
      <p:pic>
        <p:nvPicPr>
          <p:cNvPr id="4" name="Image 0" descr="/tmp/rasterized-gradient-71bfc2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567755"/>
            <a:ext cx="2603450" cy="26632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1606153"/>
            <a:ext cx="476250" cy="422821"/>
          </a:xfrm>
          <a:prstGeom prst="roundRect">
            <a:avLst>
              <a:gd name="adj" fmla="val 2252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50243" y="1644253"/>
            <a:ext cx="3152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" y="2324249"/>
            <a:ext cx="2169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Policy Definition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6750" y="2834729"/>
            <a:ext cx="216974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desired and undesired behaviors in System Instructions—the agent's "constitution" that guides all decisions.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666750" y="3822353"/>
            <a:ext cx="2127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6750" y="4008090"/>
            <a:ext cx="2169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boundaries before deployment</a:t>
            </a:r>
            <a:endParaRPr lang="en-US" sz="825" dirty="0"/>
          </a:p>
        </p:txBody>
      </p:sp>
      <p:pic>
        <p:nvPicPr>
          <p:cNvPr id="11" name="Image 1" descr="/tmp/rasterized-gradient-83145e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200" y="1567755"/>
            <a:ext cx="2603450" cy="26632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8325" y="1705124"/>
            <a:ext cx="476250" cy="422821"/>
          </a:xfrm>
          <a:prstGeom prst="roundRect">
            <a:avLst>
              <a:gd name="adj" fmla="val 2252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591818" y="1743224"/>
            <a:ext cx="3152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3508325" y="2423220"/>
            <a:ext cx="2169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Guardrails &amp; Filtering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08325" y="2933700"/>
            <a:ext cx="2169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policies with input/output filtering, PII detection, and Human-in-the-Loop for high-risk actions.</a:t>
            </a:r>
            <a:endParaRPr lang="en-US" sz="975" dirty="0"/>
          </a:p>
        </p:txBody>
      </p:sp>
      <p:sp>
        <p:nvSpPr>
          <p:cNvPr id="16" name="Shape 12"/>
          <p:cNvSpPr/>
          <p:nvPr/>
        </p:nvSpPr>
        <p:spPr>
          <a:xfrm>
            <a:off x="3508325" y="3723233"/>
            <a:ext cx="2127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508325" y="3908971"/>
            <a:ext cx="2169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protection layer</a:t>
            </a:r>
            <a:endParaRPr lang="en-US" sz="825" dirty="0"/>
          </a:p>
        </p:txBody>
      </p:sp>
      <p:pic>
        <p:nvPicPr>
          <p:cNvPr id="18" name="Image 2" descr="/tmp/rasterized-gradient-eb6302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776" y="1567755"/>
            <a:ext cx="2603450" cy="266327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9901" y="1705124"/>
            <a:ext cx="476250" cy="422821"/>
          </a:xfrm>
          <a:prstGeom prst="roundRect">
            <a:avLst>
              <a:gd name="adj" fmla="val 2252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433393" y="1743224"/>
            <a:ext cx="3152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950" dirty="0"/>
          </a:p>
        </p:txBody>
      </p:sp>
      <p:sp>
        <p:nvSpPr>
          <p:cNvPr id="21" name="Text 16"/>
          <p:cNvSpPr/>
          <p:nvPr/>
        </p:nvSpPr>
        <p:spPr>
          <a:xfrm>
            <a:off x="6349901" y="2423220"/>
            <a:ext cx="2169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Continuous Assurance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349901" y="2933700"/>
            <a:ext cx="2169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test against adversarial datasets, conduct Red Teaming, and re-evaluate on every change.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6349901" y="3723233"/>
            <a:ext cx="2127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349901" y="3908971"/>
            <a:ext cx="2169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validation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345758" y="4612035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Google's Secure AI Framework (SAIF)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6233" y="333375"/>
            <a:ext cx="54115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Production: The Continuous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5758" y="904875"/>
            <a:ext cx="8452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live agents through observation, action, and evolution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45758" y="4585395"/>
            <a:ext cx="8452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improvements in hours, not weeks, turning static deployments into continuously evolving products.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97935-A6A4-2450-F08C-614139E82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694" y="1210898"/>
            <a:ext cx="5082611" cy="30277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57029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Observe: The Agent's Sensory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8625" y="904875"/>
            <a:ext cx="8452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 of observability for AI agents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28625" y="1520130"/>
            <a:ext cx="2603450" cy="2430959"/>
          </a:xfrm>
          <a:prstGeom prst="roundRect">
            <a:avLst>
              <a:gd name="adj" fmla="val 47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28625" y="3932039"/>
            <a:ext cx="2603450" cy="0"/>
          </a:xfrm>
          <a:prstGeom prst="line">
            <a:avLst/>
          </a:prstGeom>
          <a:noFill/>
          <a:ln w="38100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6750" y="1372791"/>
            <a:ext cx="571500" cy="476250"/>
          </a:xfrm>
          <a:prstGeom prst="roundRect">
            <a:avLst>
              <a:gd name="adj" fmla="val 24000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4204" y="1410891"/>
            <a:ext cx="363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66750" y="2172891"/>
            <a:ext cx="216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6750" y="2706291"/>
            <a:ext cx="2169744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every LLM interaction: prompts, responses, tool calls, and decisions.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9125" y="3497759"/>
            <a:ext cx="2169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Debugging, auditing, compliance, and replay for investigation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70200" y="1520130"/>
            <a:ext cx="2603450" cy="2430959"/>
          </a:xfrm>
          <a:prstGeom prst="roundRect">
            <a:avLst>
              <a:gd name="adj" fmla="val 47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70200" y="3932039"/>
            <a:ext cx="2603450" cy="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08325" y="1287066"/>
            <a:ext cx="571500" cy="476250"/>
          </a:xfrm>
          <a:prstGeom prst="roundRect">
            <a:avLst>
              <a:gd name="adj" fmla="val 2400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15779" y="1325166"/>
            <a:ext cx="363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508325" y="2087166"/>
            <a:ext cx="216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8325" y="2620566"/>
            <a:ext cx="2169744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complete journey of a request across LLM calls, tools, and services.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08325" y="3386659"/>
            <a:ext cx="21697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Performance analysis, bottleneck detection, and end-to-end visibility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11776" y="1520130"/>
            <a:ext cx="2603450" cy="2430959"/>
          </a:xfrm>
          <a:prstGeom prst="roundRect">
            <a:avLst>
              <a:gd name="adj" fmla="val 47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11776" y="3932039"/>
            <a:ext cx="2603450" cy="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49901" y="1372791"/>
            <a:ext cx="571500" cy="476250"/>
          </a:xfrm>
          <a:prstGeom prst="roundRect">
            <a:avLst>
              <a:gd name="adj" fmla="val 24000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57355" y="1410891"/>
            <a:ext cx="363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349901" y="2172891"/>
            <a:ext cx="216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9901" y="2706291"/>
            <a:ext cx="2169744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measurements: latency percentiles, token usage, success rates, and costs.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49901" y="3479453"/>
            <a:ext cx="2169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Alerting, dashboards, trend analysis, and capacity planning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8625" y="4293989"/>
            <a:ext cx="8286750" cy="516136"/>
          </a:xfrm>
          <a:prstGeom prst="roundRect">
            <a:avLst>
              <a:gd name="adj" fmla="val 14764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9125" y="4465439"/>
            <a:ext cx="80638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OpenTelemetry GenAI semantic conventions (2025) provide standardized instrumentation across all LLM providers.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50812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Act: Levers of Operational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8625" y="1394668"/>
            <a:ext cx="3976687" cy="2457004"/>
          </a:xfrm>
          <a:prstGeom prst="roundRect">
            <a:avLst>
              <a:gd name="adj" fmla="val 465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163279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5480" y="1695599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1739503"/>
            <a:ext cx="232276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Health Management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224239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8251" y="2295674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7750" y="2242393"/>
            <a:ext cx="17500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47750" y="2444204"/>
            <a:ext cx="193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Stateless design / reliable patterns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6750" y="274707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8251" y="280035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7750" y="2747070"/>
            <a:ext cx="13674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47750" y="2948880"/>
            <a:ext cx="13674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cascading failures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6750" y="325174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251" y="3305026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7750" y="3251746"/>
            <a:ext cx="19314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Guardrails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047750" y="3453557"/>
            <a:ext cx="1931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alerts and automatic throttling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38688" y="1394668"/>
            <a:ext cx="3976687" cy="2457004"/>
          </a:xfrm>
          <a:prstGeom prst="roundRect">
            <a:avLst>
              <a:gd name="adj" fmla="val 465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76813" y="1632793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55543" y="1695599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510213" y="1739503"/>
            <a:ext cx="240063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risk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76813" y="224239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78313" y="2295674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57813" y="2242393"/>
            <a:ext cx="15229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57813" y="2444204"/>
            <a:ext cx="15229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the threat immediately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76813" y="274707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78313" y="280035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57813" y="2747070"/>
            <a:ext cx="14125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357813" y="2948880"/>
            <a:ext cx="14125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impact and severity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76813" y="325174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78313" y="3305026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57813" y="3251746"/>
            <a:ext cx="16592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5357813" y="3453557"/>
            <a:ext cx="16592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root cause, update defenses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8625" y="4598789"/>
            <a:ext cx="8452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Having pre-defined playbooks reduces mean-time-to-resolution (MTTR) from hours to minutes.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72186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Evolve: Turning Production Failures into Test Cases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28625" y="790575"/>
            <a:ext cx="8452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virtuous cycle that ensures problems never recur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0677" y="1187797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28625" y="4147245"/>
            <a:ext cx="8286750" cy="662880"/>
          </a:xfrm>
          <a:prstGeom prst="roundRect">
            <a:avLst>
              <a:gd name="adj" fmla="val 11495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19125" y="4318695"/>
            <a:ext cx="80638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retail agent fails on 'similar products' requests. Logs create a new failing test case. An engineer refines the prompt. The change passes the updated evaluation suite and deploys in under 48 hours.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D0694B9-3381-BC96-F9C0-BAAE68188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56171"/>
            <a:ext cx="7772400" cy="28311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333375"/>
            <a:ext cx="76266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Single Agents: Scaling with Interoperability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753939" y="1101030"/>
            <a:ext cx="1328139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7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62063" y="1655564"/>
            <a:ext cx="666750" cy="952500"/>
          </a:xfrm>
          <a:prstGeom prst="roundRect">
            <a:avLst>
              <a:gd name="adj" fmla="val 11429"/>
            </a:avLst>
          </a:prstGeom>
          <a:solidFill>
            <a:srgbClr val="E8E8E8"/>
          </a:solidFill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52711" y="1868984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45270" y="2274689"/>
            <a:ext cx="306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2071688" y="1655564"/>
            <a:ext cx="666750" cy="952500"/>
          </a:xfrm>
          <a:prstGeom prst="roundRect">
            <a:avLst>
              <a:gd name="adj" fmla="val 11429"/>
            </a:avLst>
          </a:prstGeom>
          <a:solidFill>
            <a:srgbClr val="E8E8E8"/>
          </a:solidFill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62336" y="1868984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52514" y="2274689"/>
            <a:ext cx="311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881313" y="1655564"/>
            <a:ext cx="666750" cy="952500"/>
          </a:xfrm>
          <a:prstGeom prst="roundRect">
            <a:avLst>
              <a:gd name="adj" fmla="val 11429"/>
            </a:avLst>
          </a:prstGeom>
          <a:solidFill>
            <a:srgbClr val="E8E8E8"/>
          </a:solidFill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71961" y="1868984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59757" y="2274689"/>
            <a:ext cx="3160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9096" y="2989064"/>
            <a:ext cx="403193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exist in silos and cannot collaborate, leading to massive inefficiency and trapped insights.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162229" y="1101030"/>
            <a:ext cx="117648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7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95938" y="1655564"/>
            <a:ext cx="666750" cy="952500"/>
          </a:xfrm>
          <a:prstGeom prst="roundRect">
            <a:avLst>
              <a:gd name="adj" fmla="val 11429"/>
            </a:avLst>
          </a:prstGeom>
          <a:solidFill>
            <a:srgbClr val="E8F4FC"/>
          </a:solidFill>
          <a:ln w="19050">
            <a:solidFill>
              <a:srgbClr val="00A3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86586" y="1868984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79145" y="2274689"/>
            <a:ext cx="306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405563" y="1655564"/>
            <a:ext cx="666750" cy="952500"/>
          </a:xfrm>
          <a:prstGeom prst="roundRect">
            <a:avLst>
              <a:gd name="adj" fmla="val 11429"/>
            </a:avLst>
          </a:prstGeom>
          <a:solidFill>
            <a:srgbClr val="E8F4FC"/>
          </a:solidFill>
          <a:ln w="19050">
            <a:solidFill>
              <a:srgbClr val="00A3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96211" y="1868984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6389" y="2274689"/>
            <a:ext cx="311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7215188" y="1655564"/>
            <a:ext cx="666750" cy="952500"/>
          </a:xfrm>
          <a:prstGeom prst="roundRect">
            <a:avLst>
              <a:gd name="adj" fmla="val 11429"/>
            </a:avLst>
          </a:prstGeom>
          <a:solidFill>
            <a:srgbClr val="E8F4FC"/>
          </a:solidFill>
          <a:ln w="19050">
            <a:solidFill>
              <a:srgbClr val="00A3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05836" y="1868984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93632" y="2274689"/>
            <a:ext cx="3160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00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</a:t>
            </a:r>
            <a:endParaRPr lang="en-US" sz="675" dirty="0"/>
          </a:p>
        </p:txBody>
      </p:sp>
      <p:pic>
        <p:nvPicPr>
          <p:cNvPr id="24" name="Image 0" descr="/tmp/rasterized-gradient-a671d3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3" y="2112764"/>
            <a:ext cx="1619250" cy="381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722971" y="2989064"/>
            <a:ext cx="403193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protocols enable collaboration and shared capabilities across agents.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428625" y="3838575"/>
            <a:ext cx="4024313" cy="971550"/>
          </a:xfrm>
          <a:prstGeom prst="roundRect">
            <a:avLst>
              <a:gd name="adj" fmla="val 98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47675" y="3838575"/>
            <a:ext cx="0" cy="97155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38175" y="4010025"/>
            <a:ext cx="3716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(Model Context Protocol)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638175" y="4257675"/>
            <a:ext cx="3716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integrating with simple, stateless </a:t>
            </a: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(e.g., a calculator, a database API)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691063" y="3838575"/>
            <a:ext cx="4024313" cy="971550"/>
          </a:xfrm>
          <a:prstGeom prst="roundRect">
            <a:avLst>
              <a:gd name="adj" fmla="val 98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710112" y="3838575"/>
            <a:ext cx="0" cy="971550"/>
          </a:xfrm>
          <a:prstGeom prst="line">
            <a:avLst/>
          </a:prstGeom>
          <a:noFill/>
          <a:ln w="38100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900613" y="4010025"/>
            <a:ext cx="3716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 (Agent2Agent Protocol)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4900613" y="4257675"/>
            <a:ext cx="37161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collaborating with complex, stateful, intelligent </a:t>
            </a: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can reason and plan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61499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vs A2A: The Auto Repair Shop Analogy</a:t>
            </a:r>
            <a:endParaRPr lang="en-US" sz="2250" dirty="0"/>
          </a:p>
        </p:txBody>
      </p:sp>
      <p:pic>
        <p:nvPicPr>
          <p:cNvPr id="3" name="Image 0" descr="/tmp/rasterized-svg-f4307a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981968"/>
            <a:ext cx="3619500" cy="304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875" y="790724"/>
            <a:ext cx="4000500" cy="750540"/>
          </a:xfrm>
          <a:prstGeom prst="roundRect">
            <a:avLst>
              <a:gd name="adj" fmla="val 126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33925" y="790724"/>
            <a:ext cx="0" cy="75054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905375" y="943124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Customer → Shop Manager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05375" y="1179314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"My car makes a weird noise" — requires reasoning and planning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14875" y="1684139"/>
            <a:ext cx="4000500" cy="750540"/>
          </a:xfrm>
          <a:prstGeom prst="roundRect">
            <a:avLst>
              <a:gd name="adj" fmla="val 126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733925" y="1684139"/>
            <a:ext cx="0" cy="75054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05375" y="1836539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Shop Manager → Mechanic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05375" y="2072729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"Diagnose and fix" — delegates to specialist agent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14875" y="2577554"/>
            <a:ext cx="4000500" cy="750540"/>
          </a:xfrm>
          <a:prstGeom prst="roundRect">
            <a:avLst>
              <a:gd name="adj" fmla="val 126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33925" y="2577554"/>
            <a:ext cx="0" cy="750540"/>
          </a:xfrm>
          <a:prstGeom prst="line">
            <a:avLst/>
          </a:prstGeom>
          <a:noFill/>
          <a:ln w="381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05375" y="2729954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Mechanic → Tools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05375" y="2966145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"Get torque wrench" — simple, stateless tool call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14875" y="3470970"/>
            <a:ext cx="4000500" cy="750540"/>
          </a:xfrm>
          <a:prstGeom prst="roundRect">
            <a:avLst>
              <a:gd name="adj" fmla="val 126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733925" y="3470970"/>
            <a:ext cx="0" cy="75054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05375" y="3623370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Mechanic → Parts Supplier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05375" y="3859560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"Need brake pads for BMW" — requires negotiation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28625" y="4345335"/>
            <a:ext cx="8286750" cy="464790"/>
          </a:xfrm>
          <a:prstGeom prst="roundRect">
            <a:avLst>
              <a:gd name="adj" fmla="val 16395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19125" y="4497735"/>
            <a:ext cx="8063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and A2A are complementary. MCP handles tool integration; A2A handles agent collaboration. Use both at different abstraction levels.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6582" y="285750"/>
            <a:ext cx="44108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AgentOps Lifecycle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895350"/>
            <a:ext cx="1745456" cy="2802434"/>
          </a:xfrm>
          <a:prstGeom prst="roundRect">
            <a:avLst>
              <a:gd name="adj" fmla="val 5457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914400"/>
            <a:ext cx="1745456" cy="0"/>
          </a:xfrm>
          <a:prstGeom prst="line">
            <a:avLst/>
          </a:prstGeom>
          <a:noFill/>
          <a:ln w="3810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9278" y="1269802"/>
            <a:ext cx="14889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23875" y="1685032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433" y="1799332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Experimentation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3875" y="2123182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6433" y="2237482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Data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3875" y="2561332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6433" y="2675632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/ Memory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3875" y="2999482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6433" y="3113782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Testing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78856" y="2262108"/>
            <a:ext cx="24288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593181" y="895350"/>
            <a:ext cx="1745456" cy="2802434"/>
          </a:xfrm>
          <a:prstGeom prst="roundRect">
            <a:avLst>
              <a:gd name="adj" fmla="val 5457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21459" y="1250752"/>
            <a:ext cx="14889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Governance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736056" y="1665982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18614" y="1780282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36056" y="2104132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18614" y="2218432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36056" y="2542282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18614" y="2656582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Registry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36056" y="2980432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18614" y="3094732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Registry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12469" y="2242303"/>
            <a:ext cx="24288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805363" y="895350"/>
            <a:ext cx="1745456" cy="2802434"/>
          </a:xfrm>
          <a:prstGeom prst="roundRect">
            <a:avLst>
              <a:gd name="adj" fmla="val 54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805363" y="914400"/>
            <a:ext cx="1745456" cy="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3640" y="1241227"/>
            <a:ext cx="14889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948238" y="1656457"/>
            <a:ext cx="1459706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40511" y="1780282"/>
            <a:ext cx="1275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48238" y="2113657"/>
            <a:ext cx="1459706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40511" y="2237482"/>
            <a:ext cx="1275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at Scale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48238" y="2570857"/>
            <a:ext cx="1459706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40511" y="2694682"/>
            <a:ext cx="1275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Simulation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48238" y="3028057"/>
            <a:ext cx="1459706" cy="361950"/>
          </a:xfrm>
          <a:prstGeom prst="roundRect">
            <a:avLst>
              <a:gd name="adj" fmla="val 15789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30795" y="3142357"/>
            <a:ext cx="1294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✓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662737" y="2231826"/>
            <a:ext cx="24288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017544" y="895350"/>
            <a:ext cx="1745456" cy="2802434"/>
          </a:xfrm>
          <a:prstGeom prst="roundRect">
            <a:avLst>
              <a:gd name="adj" fmla="val 5457"/>
            </a:avLst>
          </a:prstGeom>
          <a:solidFill>
            <a:srgbClr val="E8FC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017544" y="914400"/>
            <a:ext cx="1745456" cy="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45822" y="1231702"/>
            <a:ext cx="14889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7160419" y="1646932"/>
            <a:ext cx="1459706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3E6C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252692" y="1770757"/>
            <a:ext cx="1275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Deployment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160419" y="2104132"/>
            <a:ext cx="1459706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3E6C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252692" y="2227957"/>
            <a:ext cx="1275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Memory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60419" y="2561332"/>
            <a:ext cx="1459706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3E6C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252692" y="2685157"/>
            <a:ext cx="1275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60419" y="3018532"/>
            <a:ext cx="1459706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3E6C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252692" y="3142357"/>
            <a:ext cx="1275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&amp; Traces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831255" y="4184814"/>
            <a:ext cx="3481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Feedback Loop: Production insights feed back into evaluation datasets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297180" y="467305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 unifies </a:t>
            </a: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(team roles), </a:t>
            </a: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(CI/CD workflows), and </a:t>
            </a: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(infrastructure)</a:t>
            </a:r>
            <a:endParaRPr lang="en-US" sz="825" dirty="0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E58A1315-C511-773F-7F87-E0C78A41A9E2}"/>
              </a:ext>
            </a:extLst>
          </p:cNvPr>
          <p:cNvSpPr/>
          <p:nvPr/>
        </p:nvSpPr>
        <p:spPr>
          <a:xfrm>
            <a:off x="2230445" y="2177535"/>
            <a:ext cx="242888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2C1F0874-7739-41F7-4886-3AC09807683F}"/>
              </a:ext>
            </a:extLst>
          </p:cNvPr>
          <p:cNvSpPr/>
          <p:nvPr/>
        </p:nvSpPr>
        <p:spPr>
          <a:xfrm>
            <a:off x="4471988" y="2172713"/>
            <a:ext cx="242888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92F6BA8A-B6A2-4F66-E849-8A1EE983F565}"/>
              </a:ext>
            </a:extLst>
          </p:cNvPr>
          <p:cNvSpPr/>
          <p:nvPr/>
        </p:nvSpPr>
        <p:spPr>
          <a:xfrm>
            <a:off x="6655975" y="2154040"/>
            <a:ext cx="242888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F6A51B54-91F6-D0EB-DA9E-F6913914455F}"/>
              </a:ext>
            </a:extLst>
          </p:cNvPr>
          <p:cNvCxnSpPr>
            <a:stCxn id="41" idx="2"/>
            <a:endCxn id="3" idx="2"/>
          </p:cNvCxnSpPr>
          <p:nvPr/>
        </p:nvCxnSpPr>
        <p:spPr>
          <a:xfrm rot="5400000">
            <a:off x="4572000" y="379512"/>
            <a:ext cx="12700" cy="6636544"/>
          </a:xfrm>
          <a:prstGeom prst="bentConnector3">
            <a:avLst>
              <a:gd name="adj1" fmla="val 564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50326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Path Forward with AgentOps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8625" y="900708"/>
            <a:ext cx="2040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Message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28625" y="1434108"/>
            <a:ext cx="3976687" cy="1281113"/>
          </a:xfrm>
          <a:prstGeom prst="roundRect">
            <a:avLst>
              <a:gd name="adj" fmla="val 892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6750" y="1710333"/>
            <a:ext cx="3570446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 transforms the value equation: Instead of </a:t>
            </a: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effort going to infrastructure, invest that effort in what matters—</a:t>
            </a: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better agents</a:t>
            </a: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28625" y="3058120"/>
            <a:ext cx="3976687" cy="1040011"/>
          </a:xfrm>
          <a:prstGeom prst="roundRect">
            <a:avLst>
              <a:gd name="adj" fmla="val 10990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3334345"/>
            <a:ext cx="357044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"Bridging the last mile is not the final step in a project, but the first step in creating value."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8625" y="4479131"/>
            <a:ext cx="40562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8625" y="4713387"/>
            <a:ext cx="40562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improvements in hours, not weeks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38688" y="1026914"/>
            <a:ext cx="2040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350" b="1" dirty="0">
                <a:solidFill>
                  <a:srgbClr val="0066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Next Steps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38688" y="1560314"/>
            <a:ext cx="3976687" cy="1790551"/>
          </a:xfrm>
          <a:prstGeom prst="roundRect">
            <a:avLst>
              <a:gd name="adj" fmla="val 53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0138" y="1731764"/>
            <a:ext cx="37064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You're Starting Out: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0138" y="20193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88421" y="205740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14938" y="2044154"/>
            <a:ext cx="15945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evaluation fundamentals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0138" y="233169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88421" y="236979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14938" y="2356545"/>
            <a:ext cx="1626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golden dataset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0138" y="264408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88421" y="268218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214938" y="2668935"/>
            <a:ext cx="19182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basic CI/CD with quality gates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0138" y="2956471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A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88421" y="299457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14938" y="2981325"/>
            <a:ext cx="17563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logging and monitoring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8688" y="3646140"/>
            <a:ext cx="3976687" cy="1165771"/>
          </a:xfrm>
          <a:prstGeom prst="roundRect">
            <a:avLst>
              <a:gd name="adj" fmla="val 8171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57738" y="3646140"/>
            <a:ext cx="0" cy="1165771"/>
          </a:xfrm>
          <a:prstGeom prst="line">
            <a:avLst/>
          </a:prstGeom>
          <a:noFill/>
          <a:ln w="38100">
            <a:solidFill>
              <a:srgbClr val="003E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48238" y="3817590"/>
            <a:ext cx="36676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03E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You're Scaling: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48238" y="4105126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12978" y="4143226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53038" y="4129980"/>
            <a:ext cx="27415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the production → evaluation feedback loop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48238" y="4417516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3E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12978" y="4455616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253038" y="4442371"/>
            <a:ext cx="20460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on A2A and MCP protocols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1296</Words>
  <Application>Microsoft Macintosh PowerPoint</Application>
  <PresentationFormat>On-screen Show (16:9)</PresentationFormat>
  <Paragraphs>228</Paragraphs>
  <Slides>16</Slides>
  <Notes>15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Georgia</vt:lpstr>
      <vt:lpstr>Montserrat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Prototype to Production: Mastering the Last Mile with AgentOps</dc:title>
  <dc:subject>AgentOps Framework for AI Agent Operationalization</dc:subject>
  <dc:creator>KBC Bank</dc:creator>
  <cp:lastModifiedBy>amine Amine</cp:lastModifiedBy>
  <cp:revision>2</cp:revision>
  <dcterms:created xsi:type="dcterms:W3CDTF">2025-11-30T19:29:50Z</dcterms:created>
  <dcterms:modified xsi:type="dcterms:W3CDTF">2025-11-30T22:24:00Z</dcterms:modified>
</cp:coreProperties>
</file>