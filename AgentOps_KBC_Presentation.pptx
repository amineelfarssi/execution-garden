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537" y="1278731"/>
            <a:ext cx="7412927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225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AgentOps: From Prototype to Production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878226" y="2844403"/>
            <a:ext cx="5387548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33"/>
              </a:lnSpc>
              <a:spcAft>
                <a:spcPts val="3000"/>
              </a:spcAft>
              <a:buNone/>
            </a:pPr>
            <a:r>
              <a:rPr lang="en-US" sz="2100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Operationalizing AI Agents at KBC Bank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381156" y="3559820"/>
            <a:ext cx="43815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Trust, Ensuring Security, Enabling Velocity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66800"/>
            <a:ext cx="8229600" cy="0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4206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76350"/>
            <a:ext cx="839419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 agent is easy. Trusting it is hard.</a:t>
            </a:r>
            <a:endParaRPr lang="en-US" sz="1275" dirty="0"/>
          </a:p>
        </p:txBody>
      </p:sp>
      <p:pic>
        <p:nvPicPr>
          <p:cNvPr id="5" name="Image 0" descr="/tmp/rasterized-gradient-574a98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52588"/>
            <a:ext cx="8229600" cy="838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8650" y="1824038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21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</a:t>
            </a:r>
            <a:pPr algn="l" indent="0" marL="0">
              <a:lnSpc>
                <a:spcPts val="3150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2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effort is on infrastructure, security, and validation</a:t>
            </a:r>
            <a:endParaRPr lang="en-US" sz="1275" dirty="0"/>
          </a:p>
        </p:txBody>
      </p:sp>
      <p:sp>
        <p:nvSpPr>
          <p:cNvPr id="7" name="Text 4"/>
          <p:cNvSpPr/>
          <p:nvPr/>
        </p:nvSpPr>
        <p:spPr>
          <a:xfrm>
            <a:off x="457200" y="2624138"/>
            <a:ext cx="839419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failures to prevent: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647700" y="3000375"/>
            <a:ext cx="8039100" cy="115624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1050"/>
              </a:spcAft>
              <a:buSzPct val="100000"/>
              <a:buChar char="•"/>
            </a:pPr>
            <a:r>
              <a:rPr lang="en-US" sz="12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manipulated to bypass guardrails</a:t>
            </a:r>
            <a:endParaRPr lang="en-US" sz="1275" dirty="0"/>
          </a:p>
          <a:p>
            <a:pPr algn="l" marL="85725" indent="-85725">
              <a:lnSpc>
                <a:spcPts val="1785"/>
              </a:lnSpc>
              <a:spcAft>
                <a:spcPts val="1050"/>
              </a:spcAft>
              <a:buSzPct val="100000"/>
              <a:buChar char="•"/>
            </a:pPr>
            <a:r>
              <a:rPr lang="en-US" sz="12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 access to customer data</a:t>
            </a:r>
            <a:endParaRPr lang="en-US" sz="1275" dirty="0"/>
          </a:p>
          <a:p>
            <a:pPr algn="l" marL="85725" indent="-85725">
              <a:lnSpc>
                <a:spcPts val="1785"/>
              </a:lnSpc>
              <a:spcAft>
                <a:spcPts val="1050"/>
              </a:spcAft>
              <a:buSzPct val="100000"/>
              <a:buChar char="•"/>
            </a:pPr>
            <a:r>
              <a:rPr lang="en-US" sz="12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cost spikes without monitoring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66800"/>
            <a:ext cx="8229600" cy="0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5042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AgentOps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14450"/>
            <a:ext cx="839419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2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pillars for production-grade AI agents: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7200" y="1747838"/>
            <a:ext cx="2616250" cy="2019300"/>
          </a:xfrm>
          <a:prstGeom prst="roundRect">
            <a:avLst>
              <a:gd name="adj" fmla="val 377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762125"/>
            <a:ext cx="2616250" cy="0"/>
          </a:xfrm>
          <a:prstGeom prst="line">
            <a:avLst/>
          </a:prstGeom>
          <a:noFill/>
          <a:ln w="28575">
            <a:solidFill>
              <a:srgbClr val="00A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1928813"/>
            <a:ext cx="11852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0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Evaluation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2405063"/>
            <a:ext cx="23576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09600" y="2871788"/>
            <a:ext cx="23576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datasets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09600" y="3338513"/>
            <a:ext cx="23576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validation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263950" y="1747838"/>
            <a:ext cx="2616250" cy="2019300"/>
          </a:xfrm>
          <a:prstGeom prst="roundRect">
            <a:avLst>
              <a:gd name="adj" fmla="val 377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63950" y="1762125"/>
            <a:ext cx="2616250" cy="0"/>
          </a:xfrm>
          <a:prstGeom prst="line">
            <a:avLst/>
          </a:prstGeom>
          <a:noFill/>
          <a:ln w="28575">
            <a:solidFill>
              <a:srgbClr val="00A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6350" y="1928813"/>
            <a:ext cx="12727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0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Deployment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16350" y="2405063"/>
            <a:ext cx="23576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pipelines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3416350" y="2871788"/>
            <a:ext cx="23576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rollouts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416350" y="3338513"/>
            <a:ext cx="23576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070699" y="1747838"/>
            <a:ext cx="2616250" cy="2019300"/>
          </a:xfrm>
          <a:prstGeom prst="roundRect">
            <a:avLst>
              <a:gd name="adj" fmla="val 377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70699" y="1762125"/>
            <a:ext cx="2616250" cy="0"/>
          </a:xfrm>
          <a:prstGeom prst="line">
            <a:avLst/>
          </a:prstGeom>
          <a:noFill/>
          <a:ln w="28575">
            <a:solidFill>
              <a:srgbClr val="00A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3099" y="1928813"/>
            <a:ext cx="13796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0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Observability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23099" y="2405063"/>
            <a:ext cx="23576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223099" y="2871788"/>
            <a:ext cx="23576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tracing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223099" y="3338513"/>
            <a:ext cx="23576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tracking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66800"/>
            <a:ext cx="8229600" cy="0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63539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 → Act → Evolve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14450"/>
            <a:ext cx="8229600" cy="3781127"/>
          </a:xfrm>
          <a:prstGeom prst="roundRect">
            <a:avLst>
              <a:gd name="adj" fmla="val 302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700" y="1504950"/>
            <a:ext cx="7848600" cy="767655"/>
          </a:xfrm>
          <a:prstGeom prst="roundRect">
            <a:avLst>
              <a:gd name="adj" fmla="val 49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66750" y="1504950"/>
            <a:ext cx="0" cy="767655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9150" y="1638300"/>
            <a:ext cx="769467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0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Observe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9150" y="1901130"/>
            <a:ext cx="769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Logs, traces, and metrics provide visibility into agent behavior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69214" y="2386905"/>
            <a:ext cx="80055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00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7700" y="2764036"/>
            <a:ext cx="7848600" cy="767655"/>
          </a:xfrm>
          <a:prstGeom prst="roundRect">
            <a:avLst>
              <a:gd name="adj" fmla="val 49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66750" y="2764036"/>
            <a:ext cx="0" cy="767655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150" y="2897386"/>
            <a:ext cx="769467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0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9150" y="3160216"/>
            <a:ext cx="769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responses manage health, costs, and security threats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569214" y="3645991"/>
            <a:ext cx="80055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00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7700" y="4023122"/>
            <a:ext cx="7848600" cy="767655"/>
          </a:xfrm>
          <a:prstGeom prst="roundRect">
            <a:avLst>
              <a:gd name="adj" fmla="val 49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66750" y="4023122"/>
            <a:ext cx="0" cy="767655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150" y="4156472"/>
            <a:ext cx="769467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0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Evolve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9150" y="4419302"/>
            <a:ext cx="769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drive improvements—deploy in hours, not weeks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66800"/>
            <a:ext cx="8229600" cy="0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6227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Control for Business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31727"/>
            <a:ext cx="2312289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66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Gets Versioned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6750" y="1891010"/>
            <a:ext cx="3810000" cy="1414463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463"/>
              </a:lnSpc>
              <a:spcAft>
                <a:spcPts val="525"/>
              </a:spcAft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prompts and instructions</a:t>
            </a:r>
            <a:endParaRPr lang="en-US" sz="1125" dirty="0"/>
          </a:p>
          <a:p>
            <a:pPr algn="l" marL="85725" indent="-85725">
              <a:lnSpc>
                <a:spcPts val="1463"/>
              </a:lnSpc>
              <a:spcAft>
                <a:spcPts val="525"/>
              </a:spcAft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configurations</a:t>
            </a:r>
            <a:endParaRPr lang="en-US" sz="1125" dirty="0"/>
          </a:p>
          <a:p>
            <a:pPr algn="l" marL="85725" indent="-85725">
              <a:lnSpc>
                <a:spcPts val="1463"/>
              </a:lnSpc>
              <a:spcAft>
                <a:spcPts val="525"/>
              </a:spcAft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rules</a:t>
            </a:r>
            <a:endParaRPr lang="en-US" sz="1125" dirty="0"/>
          </a:p>
          <a:p>
            <a:pPr algn="l" marL="85725" indent="-85725">
              <a:lnSpc>
                <a:spcPts val="1463"/>
              </a:lnSpc>
              <a:spcAft>
                <a:spcPts val="525"/>
              </a:spcAft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datasets</a:t>
            </a:r>
            <a:endParaRPr lang="en-US" sz="1125" dirty="0"/>
          </a:p>
          <a:p>
            <a:pPr algn="l" marL="85725" indent="-85725">
              <a:lnSpc>
                <a:spcPts val="1463"/>
              </a:lnSpc>
              <a:spcAft>
                <a:spcPts val="525"/>
              </a:spcAft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parameters</a:t>
            </a:r>
            <a:endParaRPr lang="en-US" sz="1125" dirty="0"/>
          </a:p>
        </p:txBody>
      </p:sp>
      <p:pic>
        <p:nvPicPr>
          <p:cNvPr id="6" name="Image 0" descr="/tmp/rasterized-gradient-3987b6b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553123"/>
            <a:ext cx="4019550" cy="3905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2450" y="3648373"/>
            <a:ext cx="39056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Every change = Git commit = Audit trail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4667250" y="1257300"/>
            <a:ext cx="213741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66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PR-Based Workflow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7250" y="1716584"/>
            <a:ext cx="4019550" cy="622697"/>
          </a:xfrm>
          <a:prstGeom prst="roundRect">
            <a:avLst>
              <a:gd name="adj" fmla="val 91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86300" y="1716584"/>
            <a:ext cx="0" cy="622697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19650" y="1830884"/>
            <a:ext cx="382790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Propose Change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19650" y="2051745"/>
            <a:ext cx="3827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 updates prompt → Creates PR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67250" y="2567880"/>
            <a:ext cx="4019550" cy="622697"/>
          </a:xfrm>
          <a:prstGeom prst="roundRect">
            <a:avLst>
              <a:gd name="adj" fmla="val 91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686300" y="2567880"/>
            <a:ext cx="0" cy="622697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19650" y="2682180"/>
            <a:ext cx="382790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Automated Testing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19650" y="2903041"/>
            <a:ext cx="3827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runs evaluation suite → Quality gates check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67250" y="3419177"/>
            <a:ext cx="4019550" cy="622697"/>
          </a:xfrm>
          <a:prstGeom prst="roundRect">
            <a:avLst>
              <a:gd name="adj" fmla="val 91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86300" y="3419177"/>
            <a:ext cx="0" cy="622697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19650" y="3533477"/>
            <a:ext cx="382790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Review &amp; Deploy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19650" y="3754338"/>
            <a:ext cx="3827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reviews → Approved changes deploy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66800"/>
            <a:ext cx="8229600" cy="0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4653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 at KBC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76350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Bef>
                <a:spcPts val="1200"/>
              </a:spcBef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0066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 Next Steps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85800" y="1604367"/>
            <a:ext cx="8001000" cy="944612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evaluation datasets for agent prototypes</a:t>
            </a:r>
            <a:endParaRPr lang="en-US" sz="1200" dirty="0"/>
          </a:p>
          <a:p>
            <a:pPr algn="l" marL="85725" indent="-85725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CI/CD pipelines with quality gates</a:t>
            </a:r>
            <a:endParaRPr lang="en-US" sz="1200" dirty="0"/>
          </a:p>
          <a:p>
            <a:pPr algn="l" marL="85725" indent="-85725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logging and monitoring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701379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Bef>
                <a:spcPts val="1200"/>
              </a:spcBef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0066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Benefits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85800" y="3029396"/>
            <a:ext cx="8001000" cy="944612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improvements in hours vs weeks</a:t>
            </a:r>
            <a:endParaRPr lang="en-US" sz="1200" dirty="0"/>
          </a:p>
          <a:p>
            <a:pPr algn="l" marL="85725" indent="-85725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breaches through layered defense</a:t>
            </a:r>
            <a:endParaRPr lang="en-US" sz="1200" dirty="0"/>
          </a:p>
          <a:p>
            <a:pPr algn="l" marL="85725" indent="-85725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trust through auditable systems</a:t>
            </a:r>
            <a:endParaRPr lang="en-US" sz="1200" dirty="0"/>
          </a:p>
        </p:txBody>
      </p:sp>
      <p:pic>
        <p:nvPicPr>
          <p:cNvPr id="8" name="Image 0" descr="/tmp/rasterized-gradient-2d393d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26409"/>
            <a:ext cx="8229600" cy="62091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9214" y="4316909"/>
            <a:ext cx="800557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AgentOps transforms deployments into evolving, trustworthy systems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KBC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AgentOps: From Prototype to Production</dc:title>
  <dc:subject>AgentOps Implementation</dc:subject>
  <dc:creator>KBC Bank AI Team</dc:creator>
  <cp:lastModifiedBy>KBC Bank AI Team</cp:lastModifiedBy>
  <cp:revision>1</cp:revision>
  <dcterms:created xsi:type="dcterms:W3CDTF">2025-11-16T22:55:23Z</dcterms:created>
  <dcterms:modified xsi:type="dcterms:W3CDTF">2025-11-16T22:55:23Z</dcterms:modified>
</cp:coreProperties>
</file>